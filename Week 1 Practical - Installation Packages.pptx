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81" r:id="rId5"/>
    <p:sldId id="282" r:id="rId6"/>
    <p:sldId id="283" r:id="rId7"/>
    <p:sldId id="284" r:id="rId8"/>
    <p:sldId id="285" r:id="rId9"/>
    <p:sldId id="280" r:id="rId10"/>
    <p:sldId id="286" r:id="rId11"/>
    <p:sldId id="287" r:id="rId12"/>
    <p:sldId id="288" r:id="rId13"/>
    <p:sldId id="289" r:id="rId14"/>
    <p:sldId id="290" r:id="rId15"/>
    <p:sldId id="291" r:id="rId16"/>
    <p:sldId id="279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276" r:id="rId33"/>
  </p:sldIdLst>
  <p:sldSz cx="18288000" cy="10287000"/>
  <p:notesSz cx="6858000" cy="9144000"/>
  <p:embeddedFontLs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Segoe UI 1" panose="020B0802040204020203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3" dt="2026-08-24T14:00:38.255"/>
    <p1510:client id="{4B907D39-E606-18DE-0127-D06EBDF9A907}" v="36" dt="2026-08-24T13:29:14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8EBF0A3-4EDD-20C1-CF1D-38F6C02CD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0" y="2552700"/>
            <a:ext cx="5181600" cy="2743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E20664-0446-C262-0671-AD8EB3EF08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52600" y="2324100"/>
            <a:ext cx="4267200" cy="3124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BAA89482-D72B-60A1-7BDD-AF40FC073DD5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-23110"/>
            <a:ext cx="6324600" cy="5867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1E72CF9-754A-C6B3-A866-438B82D44A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582400" y="3390900"/>
            <a:ext cx="6705600" cy="689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B264F41B-AF28-D235-56EF-F619956A74E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9000" y="952500"/>
            <a:ext cx="5486400" cy="243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14EE8E-AA62-7C99-F2CB-63F01A2B14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76400" y="7353300"/>
            <a:ext cx="3962400" cy="20240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FA4D1E8-8E2E-5E37-0BDA-08ACD70005A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39000" y="3924300"/>
            <a:ext cx="3276600" cy="2133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49299E-E65A-3043-8A3B-2B91894D1B9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9262631"/>
            <a:ext cx="18288000" cy="1042416"/>
          </a:xfrm>
          <a:prstGeom prst="rect">
            <a:avLst/>
          </a:prstGeom>
        </p:spPr>
      </p:pic>
      <p:sp>
        <p:nvSpPr>
          <p:cNvPr id="10" name="Freeform 4">
            <a:extLst>
              <a:ext uri="{FF2B5EF4-FFF2-40B4-BE49-F238E27FC236}">
                <a16:creationId xmlns:a16="http://schemas.microsoft.com/office/drawing/2014/main" id="{7F2FD8BD-A474-9D4C-D34A-251862634AD6}"/>
              </a:ext>
            </a:extLst>
          </p:cNvPr>
          <p:cNvSpPr/>
          <p:nvPr userDrawn="1"/>
        </p:nvSpPr>
        <p:spPr>
          <a:xfrm>
            <a:off x="6096000" y="2024700"/>
            <a:ext cx="5970665" cy="7233600"/>
          </a:xfrm>
          <a:custGeom>
            <a:avLst/>
            <a:gdLst/>
            <a:ahLst/>
            <a:cxnLst/>
            <a:rect l="l" t="t" r="r" b="b"/>
            <a:pathLst>
              <a:path w="5970665" h="7233600">
                <a:moveTo>
                  <a:pt x="0" y="0"/>
                </a:moveTo>
                <a:lnTo>
                  <a:pt x="5970665" y="0"/>
                </a:lnTo>
                <a:lnTo>
                  <a:pt x="5970665" y="7233600"/>
                </a:lnTo>
                <a:lnTo>
                  <a:pt x="0" y="7233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"/>
            </a:blip>
            <a:stretch>
              <a:fillRect r="-16626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3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3A6E">
                <a:alpha val="100000"/>
              </a:srgbClr>
            </a:gs>
            <a:gs pos="100000">
              <a:srgbClr val="26209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17150" cy="10285320"/>
          </a:xfrm>
          <a:custGeom>
            <a:avLst/>
            <a:gdLst/>
            <a:ahLst/>
            <a:cxnLst/>
            <a:rect l="l" t="t" r="r" b="b"/>
            <a:pathLst>
              <a:path w="18317150" h="12502574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-1192" r="-1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95563" y="1015051"/>
            <a:ext cx="2663737" cy="1152180"/>
          </a:xfrm>
          <a:custGeom>
            <a:avLst/>
            <a:gdLst/>
            <a:ahLst/>
            <a:cxnLst/>
            <a:rect l="l" t="t" r="r" b="b"/>
            <a:pathLst>
              <a:path w="2663737" h="1152180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00" b="-1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75026" y="3595981"/>
            <a:ext cx="14631650" cy="130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Installation Packages</a:t>
            </a:r>
            <a:endParaRPr lang="en-US" sz="8000" b="1">
              <a:solidFill>
                <a:srgbClr val="FFFFFF"/>
              </a:solidFill>
              <a:latin typeface="Segoe UI 1"/>
              <a:ea typeface="Segoe UI 1"/>
              <a:cs typeface="Segoe UI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968586" y="7633544"/>
            <a:ext cx="3024014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2026/2027 Session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04143" y="8114214"/>
            <a:ext cx="4152900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Pan-Atlantic University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400" y="5282924"/>
            <a:ext cx="9338195" cy="547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1 - Practical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4B61ED-9652-9F78-AC5A-1131C1ADBA59}"/>
              </a:ext>
            </a:extLst>
          </p:cNvPr>
          <p:cNvSpPr txBox="1"/>
          <p:nvPr/>
        </p:nvSpPr>
        <p:spPr>
          <a:xfrm>
            <a:off x="1053815" y="763354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Chukwudi </a:t>
            </a:r>
            <a:r>
              <a:rPr lang="en-US" sz="240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Ofoma</a:t>
            </a: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6AA0B5-45C9-34A7-E849-055E6A60A374}"/>
              </a:ext>
            </a:extLst>
          </p:cNvPr>
          <p:cNvSpPr txBox="1"/>
          <p:nvPr/>
        </p:nvSpPr>
        <p:spPr>
          <a:xfrm>
            <a:off x="1053815" y="8114214"/>
            <a:ext cx="5042185" cy="410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SST/Computer Science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B2F86EA-B9B4-0237-573F-C51E35DC566A}"/>
              </a:ext>
            </a:extLst>
          </p:cNvPr>
          <p:cNvSpPr txBox="1"/>
          <p:nvPr/>
        </p:nvSpPr>
        <p:spPr>
          <a:xfrm>
            <a:off x="1026776" y="718661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Desmond Moru, PhD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92685DB-A6CA-C04B-B39A-E7A2F4C97A5E}"/>
              </a:ext>
            </a:extLst>
          </p:cNvPr>
          <p:cNvSpPr txBox="1"/>
          <p:nvPr/>
        </p:nvSpPr>
        <p:spPr>
          <a:xfrm>
            <a:off x="1053815" y="763354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Chukwudi </a:t>
            </a:r>
            <a:r>
              <a:rPr lang="en-US" sz="240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Ofoma</a:t>
            </a: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70331BA-59AA-EBC3-A790-3384F12ADA75}"/>
              </a:ext>
            </a:extLst>
          </p:cNvPr>
          <p:cNvSpPr txBox="1"/>
          <p:nvPr/>
        </p:nvSpPr>
        <p:spPr>
          <a:xfrm>
            <a:off x="1053815" y="8114214"/>
            <a:ext cx="5042185" cy="410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SST/Computer Science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3CBA272-A151-E09E-208C-AE4FC6154051}"/>
              </a:ext>
            </a:extLst>
          </p:cNvPr>
          <p:cNvSpPr txBox="1"/>
          <p:nvPr/>
        </p:nvSpPr>
        <p:spPr>
          <a:xfrm>
            <a:off x="1026776" y="718661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Desmond Moru, PhD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49289170-C6D9-9B4C-DFEF-7AA3EFFA5066}"/>
              </a:ext>
            </a:extLst>
          </p:cNvPr>
          <p:cNvSpPr txBox="1"/>
          <p:nvPr/>
        </p:nvSpPr>
        <p:spPr>
          <a:xfrm>
            <a:off x="1053815" y="763354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Chukwudi </a:t>
            </a:r>
            <a:r>
              <a:rPr lang="en-US" sz="240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Ofoma</a:t>
            </a: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05362AA0-E1BA-EA1A-3357-F20C828D7DD3}"/>
              </a:ext>
            </a:extLst>
          </p:cNvPr>
          <p:cNvSpPr txBox="1"/>
          <p:nvPr/>
        </p:nvSpPr>
        <p:spPr>
          <a:xfrm>
            <a:off x="1053815" y="8114214"/>
            <a:ext cx="5042185" cy="410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SST/Computer Science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BF29551A-E215-1139-2998-5FF741600736}"/>
              </a:ext>
            </a:extLst>
          </p:cNvPr>
          <p:cNvSpPr txBox="1"/>
          <p:nvPr/>
        </p:nvSpPr>
        <p:spPr>
          <a:xfrm>
            <a:off x="1026776" y="7186614"/>
            <a:ext cx="5042185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Desmond Moru,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90517" y="933450"/>
            <a:ext cx="9000000" cy="8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E3A6E"/>
                </a:solidFill>
                <a:latin typeface="Segoe UI 1"/>
                <a:ea typeface="Segoe UI 1"/>
                <a:cs typeface="Segoe UI 1"/>
                <a:sym typeface="Segoe UI 1"/>
              </a:rPr>
              <a:t>Today's Practical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0517" y="2740000"/>
            <a:ext cx="15706966" cy="178000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50517" y="30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517" y="3460000"/>
            <a:ext cx="1450696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Meet the tools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GitHub, Git Bash, Sublime Text, Rust and PostgreSQL, and what each one is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0517" y="4840000"/>
            <a:ext cx="15706966" cy="178000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0517" y="51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0517" y="5560000"/>
            <a:ext cx="1450696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Set up GitHub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Create your account, create a repository and install Git Bash.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0517" y="6940000"/>
            <a:ext cx="15706966" cy="178000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50517" y="72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0517" y="7660000"/>
            <a:ext cx="1450696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Your first commit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Clone the repository, write a program, then add, commit and push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458977" y="20468"/>
            <a:ext cx="10595569" cy="9510999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The Tools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each software package does and why this course needs it.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1 OF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The Software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0517" y="2750000"/>
            <a:ext cx="2837393" cy="47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17" y="3458231"/>
            <a:ext cx="2237393" cy="1633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517" y="5800000"/>
            <a:ext cx="2337393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GitHub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Hosts your code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10" y="2750000"/>
            <a:ext cx="2837393" cy="47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gitb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10" y="3679475"/>
            <a:ext cx="2237393" cy="1191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7910" y="5800000"/>
            <a:ext cx="2337393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Git Bash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Runs Git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5303" y="2750000"/>
            <a:ext cx="2837393" cy="47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subli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303" y="3626183"/>
            <a:ext cx="2237393" cy="12976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5303" y="5800000"/>
            <a:ext cx="2337393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Sublime Text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Where you write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42696" y="2750000"/>
            <a:ext cx="2837393" cy="47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ru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2696" y="3715652"/>
            <a:ext cx="2237393" cy="11186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92696" y="5800000"/>
            <a:ext cx="2337393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Rust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Our programming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60089" y="2750000"/>
            <a:ext cx="2837393" cy="47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ogo_postg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0089" y="3147198"/>
            <a:ext cx="2237393" cy="22556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10089" y="5800000"/>
            <a:ext cx="2337393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PostgreSQL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Stores data, used later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0517" y="7850000"/>
            <a:ext cx="15706966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Today we set up the first three. Rust and PostgreSQL join us in the coming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GitHub?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11083" y="2750000"/>
            <a:ext cx="54864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083" y="3412223"/>
            <a:ext cx="4486400" cy="3275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0517" y="2620000"/>
            <a:ext cx="9520566" cy="4263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 home for your code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website and cloud service where developers store and manage code, and track every change made to it.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Version control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Keeps the full history of a project, so a growing team can see, compare and undo changes safely.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Git underneath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Git is the distributed version-control system doing the work. Every developer has the full codebase and history, which makes branching and merging easy.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Sublime Text?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11083" y="2750000"/>
            <a:ext cx="54864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ubl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083" y="3748999"/>
            <a:ext cx="4486400" cy="26020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0517" y="2620000"/>
            <a:ext cx="9520566" cy="3955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 source-code editor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fast, cross-platform editor that natively supports many programming and markup languages.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Built for writing code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Syntax highlighting, quick file finding and a clean interface make it friendly for new programmers.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Where you will work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Every program you write in this course starts in Sublime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0997" y="1009650"/>
            <a:ext cx="1590980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Rust?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11083" y="2750000"/>
            <a:ext cx="54864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083" y="3928400"/>
            <a:ext cx="4486400" cy="22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0517" y="2620000"/>
            <a:ext cx="9520566" cy="364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 systems programming language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Focused on three goals: safety, speed and concurrency.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Familiar syntax</a:t>
            </a:r>
            <a:endParaRPr/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lang="en-US" sz="160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Its syntax is similar</a:t>
            </a: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 to C++. Open source, originally developed at Mozilla Research.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Low-level control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You decide how memory is used: the stack for static allocation, the heap for dynamic allocation.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PostgreSQL?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11083" y="2750000"/>
            <a:ext cx="54864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postg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816" y="3250000"/>
            <a:ext cx="3570934" cy="3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0517" y="2620000"/>
            <a:ext cx="9520566" cy="3955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An object-relational database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powerful open-source database system with a strong reputation for reliability and performance.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Standards and extensibility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Also known as Postgres. </a:t>
            </a:r>
            <a:r>
              <a:rPr lang="en-US" sz="160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Emphasizes</a:t>
            </a: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 SQL compliance and lets you extend it with your own types.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endParaRPr lang="en-US" sz="1900" b="1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The data store behind apps</a:t>
            </a:r>
            <a:endParaRPr/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primary database for many web, mobile, geospatial and analytics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458977" y="20468"/>
            <a:ext cx="10595569" cy="9510999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Set Up GitHub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your account and repository, then install Git Bash.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2 OF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Set up a GitHub account</a:t>
            </a:r>
          </a:p>
        </p:txBody>
      </p:sp>
      <p:pic>
        <p:nvPicPr>
          <p:cNvPr id="4" name="Picture 3" descr="ss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695860"/>
            <a:ext cx="11430000" cy="594427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334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332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Go to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github.com/join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489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487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 a username, your email address and a password</a:t>
            </a:r>
          </a:p>
        </p:txBody>
      </p:sp>
      <p:sp>
        <p:nvSpPr>
          <p:cNvPr id="9" name="Oval 8"/>
          <p:cNvSpPr/>
          <p:nvPr/>
        </p:nvSpPr>
        <p:spPr>
          <a:xfrm>
            <a:off x="13200517" y="644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31997" y="642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Choose “Sign up for GitHub” and follow the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Create a repository</a:t>
            </a:r>
          </a:p>
        </p:txBody>
      </p:sp>
      <p:pic>
        <p:nvPicPr>
          <p:cNvPr id="4" name="Picture 3" descr="ss_re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642412"/>
            <a:ext cx="11430000" cy="6051176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Open your profile and go to Repositories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Click the green “New” button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Name your repository</a:t>
            </a:r>
          </a:p>
        </p:txBody>
      </p:sp>
      <p:pic>
        <p:nvPicPr>
          <p:cNvPr id="4" name="Picture 3" descr="ss_new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9710931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595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Enter a repository name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Use </a:t>
            </a:r>
            <a:r>
              <a:rPr lang="en-US" sz="140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yourname-COS101</a:t>
            </a: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, e.g. d.</a:t>
            </a:r>
            <a:r>
              <a:rPr lang="en-US" sz="140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moruCOS101</a:t>
            </a:r>
            <a:endParaRPr sz="1400" b="0" i="0">
              <a:solidFill>
                <a:srgbClr val="5A607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Check “Public”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Add a licence and create</a:t>
            </a:r>
          </a:p>
        </p:txBody>
      </p:sp>
      <p:pic>
        <p:nvPicPr>
          <p:cNvPr id="4" name="Picture 3" descr="ss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8950781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1742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Choose the MIT Licence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7242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Click “Create repository”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Copy the repository URL</a:t>
            </a:r>
          </a:p>
        </p:txBody>
      </p:sp>
      <p:pic>
        <p:nvPicPr>
          <p:cNvPr id="4" name="Picture 3" descr="ss_copy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10765423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18944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Click the green “Code” button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Copy the HTTPS URL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You will need it to clone in Part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Install Git Bash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0517" y="2750000"/>
            <a:ext cx="8600000" cy="5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gitb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10" y="3650000"/>
            <a:ext cx="6011214" cy="320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590517" y="2925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1997" y="2905000"/>
            <a:ext cx="646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Go to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git-scm.com/downloads</a:t>
            </a:r>
          </a:p>
        </p:txBody>
      </p:sp>
      <p:sp>
        <p:nvSpPr>
          <p:cNvPr id="8" name="Oval 7"/>
          <p:cNvSpPr/>
          <p:nvPr/>
        </p:nvSpPr>
        <p:spPr>
          <a:xfrm>
            <a:off x="10590517" y="4475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1997" y="4455000"/>
            <a:ext cx="646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Download Git for Windows, Mac or Linux</a:t>
            </a:r>
          </a:p>
        </p:txBody>
      </p:sp>
      <p:sp>
        <p:nvSpPr>
          <p:cNvPr id="10" name="Oval 9"/>
          <p:cNvSpPr/>
          <p:nvPr/>
        </p:nvSpPr>
        <p:spPr>
          <a:xfrm>
            <a:off x="10590517" y="6025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1997" y="6005000"/>
            <a:ext cx="646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Install it by following the instructions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Accept the default options.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458977" y="20468"/>
            <a:ext cx="10595569" cy="9510999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Your First Commit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cloning the repository to pushing your first program.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3 OF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Open a terminal in Documents</a:t>
            </a:r>
          </a:p>
        </p:txBody>
      </p:sp>
      <p:pic>
        <p:nvPicPr>
          <p:cNvPr id="4" name="Picture 3" descr="ss_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10110909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334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332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Open your Documents folder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489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487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 in the address bar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cmd</a:t>
            </a:r>
          </a:p>
        </p:txBody>
      </p:sp>
      <p:sp>
        <p:nvSpPr>
          <p:cNvPr id="9" name="Oval 8"/>
          <p:cNvSpPr/>
          <p:nvPr/>
        </p:nvSpPr>
        <p:spPr>
          <a:xfrm>
            <a:off x="13200517" y="644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31997" y="642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 command prompt opens inside Documents.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Clone your repository</a:t>
            </a:r>
          </a:p>
        </p:txBody>
      </p:sp>
      <p:pic>
        <p:nvPicPr>
          <p:cNvPr id="4" name="Picture 3" descr="ss_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811846"/>
            <a:ext cx="11430000" cy="3712307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clone &lt;your-github-url&gt;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Paste the URL you copied from GitHub.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Enter the repository</a:t>
            </a:r>
          </a:p>
        </p:txBody>
      </p:sp>
      <p:pic>
        <p:nvPicPr>
          <p:cNvPr id="4" name="Picture 3" descr="ss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68733"/>
            <a:ext cx="11430000" cy="519853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cd &lt;your-repository-name&gt;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Check what is inside</a:t>
            </a:r>
          </a:p>
        </p:txBody>
      </p:sp>
      <p:pic>
        <p:nvPicPr>
          <p:cNvPr id="4" name="Picture 3" descr="ss_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9521756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dir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dir lists every file and folder in the current directory.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Create a week-1 folder</a:t>
            </a:r>
          </a:p>
        </p:txBody>
      </p:sp>
      <p:pic>
        <p:nvPicPr>
          <p:cNvPr id="4" name="Picture 3" descr="ss_mk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903933"/>
            <a:ext cx="11430000" cy="552813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mkdir week-1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Write your first program</a:t>
            </a:r>
          </a:p>
        </p:txBody>
      </p:sp>
      <p:pic>
        <p:nvPicPr>
          <p:cNvPr id="4" name="Picture 3" descr="ss_sublim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318000"/>
            <a:ext cx="10406382" cy="670000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334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332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Open Sublime Text and type the code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489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487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Save it as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practice_1.rs</a:t>
            </a:r>
          </a:p>
        </p:txBody>
      </p:sp>
      <p:sp>
        <p:nvSpPr>
          <p:cNvPr id="9" name="Oval 8"/>
          <p:cNvSpPr/>
          <p:nvPr/>
        </p:nvSpPr>
        <p:spPr>
          <a:xfrm>
            <a:off x="13200517" y="644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31997" y="642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Save inside the week-1 folder of your cloned repository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Move into week-1</a:t>
            </a:r>
          </a:p>
        </p:txBody>
      </p:sp>
      <p:pic>
        <p:nvPicPr>
          <p:cNvPr id="4" name="Picture 3" descr="ss_cd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2555102"/>
            <a:ext cx="11430000" cy="5605796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380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378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cd week-1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35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33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517" y="8380898"/>
            <a:ext cx="1143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Tip:  </a:t>
            </a: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cls clears the screen whenever the terminal gets crowded.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Confirm your file is there</a:t>
            </a:r>
          </a:p>
        </p:txBody>
      </p:sp>
      <p:pic>
        <p:nvPicPr>
          <p:cNvPr id="4" name="Picture 3" descr="ss_dir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650175"/>
            <a:ext cx="11430000" cy="403564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dir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You should see practice_1.rs listed.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Back to the repository root</a:t>
            </a:r>
          </a:p>
        </p:txBody>
      </p:sp>
      <p:pic>
        <p:nvPicPr>
          <p:cNvPr id="4" name="Picture 3" descr="ss_c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4224211"/>
            <a:ext cx="11430000" cy="2887578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cd ..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Git commands run from the repository root.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Check the status</a:t>
            </a:r>
          </a:p>
        </p:txBody>
      </p:sp>
      <p:pic>
        <p:nvPicPr>
          <p:cNvPr id="4" name="Picture 3" descr="s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561401"/>
            <a:ext cx="11430000" cy="4213198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status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Git shows week-1 as untracked since it is new.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Stage your files</a:t>
            </a:r>
          </a:p>
        </p:txBody>
      </p:sp>
      <p:pic>
        <p:nvPicPr>
          <p:cNvPr id="4" name="Picture 3" descr="ss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453603"/>
            <a:ext cx="11430000" cy="442879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284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add </a:t>
            </a:r>
            <a:r>
              <a:rPr lang="en-US" sz="1900" b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A</a:t>
            </a:r>
            <a:endParaRPr lang="en-US" sz="1900" b="1">
              <a:solidFill>
                <a:srgbClr val="2E3A6E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lang="en-US" sz="1900" b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Or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lang="en-US" sz="1900" b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add .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877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lang="en-US" sz="1400" b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"-</a:t>
            </a:r>
            <a:r>
              <a:rPr sz="1400" b="1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</a:t>
            </a:r>
            <a:r>
              <a:rPr lang="en-US" sz="1400" b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"</a:t>
            </a:r>
            <a:r>
              <a:rPr lang="en-US" sz="140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 or "</a:t>
            </a:r>
            <a:r>
              <a:rPr lang="en-US" sz="1400" b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." </a:t>
            </a:r>
            <a:r>
              <a:rPr lang="en-US" sz="140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stages</a:t>
            </a: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 every new and changed file.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Commit your work</a:t>
            </a:r>
          </a:p>
        </p:txBody>
      </p:sp>
      <p:pic>
        <p:nvPicPr>
          <p:cNvPr id="4" name="Picture 3" descr="ss_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4042305"/>
            <a:ext cx="11430000" cy="325139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commit -m "My first commit"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8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8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The message describes what this snapshot contains.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Push to GitHub</a:t>
            </a:r>
          </a:p>
        </p:txBody>
      </p:sp>
      <p:pic>
        <p:nvPicPr>
          <p:cNvPr id="4" name="Picture 3" descr="ss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702630"/>
            <a:ext cx="11430000" cy="393073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Type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git push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Press Enter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Sign in through the browser if Git asks you 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Check it on GitHub</a:t>
            </a:r>
          </a:p>
        </p:txBody>
      </p:sp>
      <p:pic>
        <p:nvPicPr>
          <p:cNvPr id="4" name="Picture 3" descr="ss_re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291718"/>
            <a:ext cx="11430000" cy="475256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13200517" y="411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31997" y="409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Refresh your repository page in the browser</a:t>
            </a:r>
          </a:p>
        </p:txBody>
      </p:sp>
      <p:sp>
        <p:nvSpPr>
          <p:cNvPr id="7" name="Oval 6"/>
          <p:cNvSpPr/>
          <p:nvPr/>
        </p:nvSpPr>
        <p:spPr>
          <a:xfrm>
            <a:off x="13200517" y="5667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31997" y="5647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You should see week-1 with practice_1.rs inside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The Whole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0517" y="2750000"/>
            <a:ext cx="3611741" cy="4150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10517" y="3200000"/>
            <a:ext cx="2771741" cy="3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01 · Get the code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git clone &lt;url&gt;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cd &lt;repository&gt;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2258" y="2750000"/>
            <a:ext cx="3611741" cy="4150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42258" y="3200000"/>
            <a:ext cx="2771741" cy="3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02 · Make changes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mkdir week-1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0" i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write code in Sublime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0" i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save as practice_1.rs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53999" y="2750000"/>
            <a:ext cx="3611741" cy="4150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73999" y="3200000"/>
            <a:ext cx="2771741" cy="3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03 · Record them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git status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git add -A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git commit -m "..."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85740" y="2750000"/>
            <a:ext cx="3611741" cy="4150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805740" y="3200000"/>
            <a:ext cx="2771741" cy="3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9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04 · Publish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1" i="0">
                <a:solidFill>
                  <a:srgbClr val="1F2430"/>
                </a:solidFill>
                <a:latin typeface="Courier New"/>
                <a:ea typeface="Courier New"/>
                <a:cs typeface="Courier New"/>
              </a:rPr>
              <a:t>git push</a:t>
            </a:r>
          </a:p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700" b="0" i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refresh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0517" y="7250000"/>
            <a:ext cx="15706966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Same four moves every week. By Week 3 this is muscle memory.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3A6E">
                <a:alpha val="100000"/>
              </a:srgbClr>
            </a:gs>
            <a:gs pos="100000">
              <a:srgbClr val="26209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786"/>
            <a:ext cx="18286670" cy="10277534"/>
          </a:xfrm>
          <a:custGeom>
            <a:avLst/>
            <a:gdLst/>
            <a:ahLst/>
            <a:cxnLst/>
            <a:rect l="l" t="t" r="r" b="b"/>
            <a:pathLst>
              <a:path w="18317150" h="12502574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1192" r="-1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95563" y="1015051"/>
            <a:ext cx="2663737" cy="1152180"/>
          </a:xfrm>
          <a:custGeom>
            <a:avLst/>
            <a:gdLst/>
            <a:ahLst/>
            <a:cxnLst/>
            <a:rect l="l" t="t" r="r" b="b"/>
            <a:pathLst>
              <a:path w="2663737" h="1152180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00" b="-19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9258300"/>
            <a:ext cx="18288000" cy="1027020"/>
            <a:chOff x="0" y="0"/>
            <a:chExt cx="4816593" cy="2704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491"/>
            </a:xfrm>
            <a:custGeom>
              <a:avLst/>
              <a:gdLst/>
              <a:ahLst/>
              <a:cxnLst/>
              <a:rect l="l" t="t" r="r" b="b"/>
              <a:pathLst>
                <a:path w="4816592" h="270491">
                  <a:moveTo>
                    <a:pt x="0" y="0"/>
                  </a:moveTo>
                  <a:lnTo>
                    <a:pt x="4816592" y="0"/>
                  </a:lnTo>
                  <a:lnTo>
                    <a:pt x="4816592" y="270491"/>
                  </a:lnTo>
                  <a:lnTo>
                    <a:pt x="0" y="270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33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62000" y="9416949"/>
            <a:ext cx="1559829" cy="709722"/>
          </a:xfrm>
          <a:custGeom>
            <a:avLst/>
            <a:gdLst/>
            <a:ahLst/>
            <a:cxnLst/>
            <a:rect l="l" t="t" r="r" b="b"/>
            <a:pathLst>
              <a:path w="1559829" h="709722">
                <a:moveTo>
                  <a:pt x="0" y="0"/>
                </a:moveTo>
                <a:lnTo>
                  <a:pt x="1559829" y="0"/>
                </a:lnTo>
                <a:lnTo>
                  <a:pt x="1559829" y="709722"/>
                </a:lnTo>
                <a:lnTo>
                  <a:pt x="0" y="709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42750" y="3574163"/>
            <a:ext cx="14631650" cy="13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Questions?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4000" y="5217471"/>
            <a:ext cx="11000000" cy="112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Homework: push </a:t>
            </a:r>
            <a:r>
              <a:rPr lang="en-US" sz="3200">
                <a:solidFill>
                  <a:srgbClr val="FFFFFF"/>
                </a:solidFill>
                <a:latin typeface="Courier New"/>
                <a:ea typeface="Poppins"/>
                <a:cs typeface="Courier New"/>
                <a:sym typeface="Poppins"/>
              </a:rPr>
              <a:t>practice_1.rs</a:t>
            </a: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before the next class.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15171" y="9613897"/>
            <a:ext cx="1905248" cy="32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E3A6E"/>
                </a:solidFill>
                <a:latin typeface="Poppins"/>
                <a:ea typeface="Poppins"/>
                <a:cs typeface="Poppins"/>
                <a:sym typeface="Poppins"/>
              </a:rPr>
              <a:t>www.pau.edu.ng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97609" y="9604017"/>
            <a:ext cx="1845990" cy="335585"/>
            <a:chOff x="0" y="0"/>
            <a:chExt cx="2461320" cy="447447"/>
          </a:xfrm>
        </p:grpSpPr>
        <p:sp>
          <p:nvSpPr>
            <p:cNvPr id="12" name="TextBox 12"/>
            <p:cNvSpPr txBox="1"/>
            <p:nvPr/>
          </p:nvSpPr>
          <p:spPr>
            <a:xfrm>
              <a:off x="551690" y="-12464"/>
              <a:ext cx="1909630" cy="415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</a:p>
          </p:txBody>
        </p:sp>
        <p:sp>
          <p:nvSpPr>
            <p:cNvPr id="13" name="Freeform 13" descr="Symbol"/>
            <p:cNvSpPr/>
            <p:nvPr/>
          </p:nvSpPr>
          <p:spPr>
            <a:xfrm>
              <a:off x="0" y="0"/>
              <a:ext cx="447447" cy="447447"/>
            </a:xfrm>
            <a:custGeom>
              <a:avLst/>
              <a:gdLst/>
              <a:ahLst/>
              <a:cxnLst/>
              <a:rect l="l" t="t" r="r" b="b"/>
              <a:pathLst>
                <a:path w="447447" h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81595" y="9637532"/>
            <a:ext cx="3577705" cy="268555"/>
            <a:chOff x="0" y="0"/>
            <a:chExt cx="4770273" cy="358074"/>
          </a:xfrm>
        </p:grpSpPr>
        <p:sp>
          <p:nvSpPr>
            <p:cNvPr id="15" name="TextBox 15"/>
            <p:cNvSpPr txBox="1"/>
            <p:nvPr/>
          </p:nvSpPr>
          <p:spPr>
            <a:xfrm>
              <a:off x="1313823" y="-57150"/>
              <a:ext cx="3456450" cy="415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</a:p>
          </p:txBody>
        </p:sp>
        <p:sp>
          <p:nvSpPr>
            <p:cNvPr id="16" name="Freeform 16" descr="Symbol"/>
            <p:cNvSpPr/>
            <p:nvPr/>
          </p:nvSpPr>
          <p:spPr>
            <a:xfrm>
              <a:off x="0" y="10659"/>
              <a:ext cx="398926" cy="336756"/>
            </a:xfrm>
            <a:custGeom>
              <a:avLst/>
              <a:gdLst/>
              <a:ahLst/>
              <a:cxnLst/>
              <a:rect l="l" t="t" r="r" b="b"/>
              <a:pathLst>
                <a:path w="398926" h="33675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 descr="X's logo"/>
            <p:cNvSpPr/>
            <p:nvPr/>
          </p:nvSpPr>
          <p:spPr>
            <a:xfrm>
              <a:off x="502626" y="43807"/>
              <a:ext cx="299310" cy="270460"/>
            </a:xfrm>
            <a:custGeom>
              <a:avLst/>
              <a:gdLst/>
              <a:ahLst/>
              <a:cxnLst/>
              <a:rect l="l" t="t" r="r" b="b"/>
              <a:pathLst>
                <a:path w="299310" h="270460">
                  <a:moveTo>
                    <a:pt x="0" y="0"/>
                  </a:moveTo>
                  <a:lnTo>
                    <a:pt x="299309" y="0"/>
                  </a:lnTo>
                  <a:lnTo>
                    <a:pt x="299309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 descr="Symbol"/>
            <p:cNvSpPr/>
            <p:nvPr/>
          </p:nvSpPr>
          <p:spPr>
            <a:xfrm>
              <a:off x="905635" y="26793"/>
              <a:ext cx="304488" cy="304488"/>
            </a:xfrm>
            <a:custGeom>
              <a:avLst/>
              <a:gdLst/>
              <a:ahLst/>
              <a:cxnLst/>
              <a:rect l="l" t="t" r="r" b="b"/>
              <a:pathLst>
                <a:path w="304488" h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U Report Presentation Template" id="{15DDEA43-7CFE-4AB7-BFD5-AAE880B5C4B8}" vid="{0F212720-FA41-45FA-838D-80B4ADDF4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Presentation Template 1</dc:title>
  <cp:revision>2</cp:revision>
  <dcterms:created xsi:type="dcterms:W3CDTF">2006-08-16T00:00:00Z</dcterms:created>
  <dcterms:modified xsi:type="dcterms:W3CDTF">2026-08-31T07:55:45Z</dcterms:modified>
  <dc:identifier>DAGkIFAjLi8</dc:identifier>
</cp:coreProperties>
</file>